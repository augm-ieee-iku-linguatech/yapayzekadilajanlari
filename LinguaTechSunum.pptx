
<file path=[Content_Types].xml><?xml version="1.0" encoding="utf-8"?>
<Types xmlns="http://schemas.openxmlformats.org/package/2006/content-types">
  <Default Extension="jpg" ContentType="image/jp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8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224" y="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al__ma_Sayfas_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Kayıt</c:v>
                </c:pt>
              </c:strCache>
            </c:strRef>
          </c:tx>
          <c:spPr>
            <a:solidFill>
              <a:srgbClr val="2E568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5C7590"/>
                    </a:solidFill>
                    <a:latin typeface="Calibri"/>
                  </a:defRPr>
                </a:pPr>
                <a:endParaRPr lang="tr-T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Adil Katılım</c:v>
                </c:pt>
                <c:pt idx="1">
                  <c:v>T.O.M. Katılım</c:v>
                </c:pt>
                <c:pt idx="2">
                  <c:v>Hayat Finans</c:v>
                </c:pt>
                <c:pt idx="3">
                  <c:v>Vakıf Katılım</c:v>
                </c:pt>
                <c:pt idx="4">
                  <c:v>Türkiye Finans</c:v>
                </c:pt>
                <c:pt idx="5">
                  <c:v>Dünya Katılım</c:v>
                </c:pt>
                <c:pt idx="6">
                  <c:v>Emlak Katılım</c:v>
                </c:pt>
                <c:pt idx="7">
                  <c:v>Albaraka Türk</c:v>
                </c:pt>
                <c:pt idx="8">
                  <c:v>Kuveyt Türk</c:v>
                </c:pt>
                <c:pt idx="9">
                  <c:v>Ziraat Katılım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</c:v>
                </c:pt>
                <c:pt idx="1">
                  <c:v>9</c:v>
                </c:pt>
                <c:pt idx="2">
                  <c:v>39</c:v>
                </c:pt>
                <c:pt idx="3">
                  <c:v>49</c:v>
                </c:pt>
                <c:pt idx="4">
                  <c:v>58</c:v>
                </c:pt>
                <c:pt idx="5">
                  <c:v>76</c:v>
                </c:pt>
                <c:pt idx="6">
                  <c:v>90</c:v>
                </c:pt>
                <c:pt idx="7">
                  <c:v>156</c:v>
                </c:pt>
                <c:pt idx="8">
                  <c:v>253</c:v>
                </c:pt>
                <c:pt idx="9">
                  <c:v>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231-9C4F-B0E6-42D8F1E2E5A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3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3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7792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1572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80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AUGM IEEE İKÜ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18745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kern="0" spc="50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LINGUA-TECH</a:t>
            </a:r>
            <a:endParaRPr lang="en-US" sz="48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83464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13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Katılım Bankacılığı Finansal Metin Madenciliği, Bilgi Çıkarımı ve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13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Akıllı Dashboard–Asistan Çözümü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77240" y="3803904"/>
            <a:ext cx="1371600" cy="32004"/>
          </a:xfrm>
          <a:prstGeom prst="rect">
            <a:avLst/>
          </a:prstGeom>
          <a:solidFill>
            <a:srgbClr val="D3141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7" name="Text 4"/>
          <p:cNvSpPr txBox="1"/>
          <p:nvPr/>
        </p:nvSpPr>
        <p:spPr>
          <a:xfrm>
            <a:off x="777240" y="40416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TEKNOFEST 2026  ·  Yapay Zeka Dil Ajanları Yarışması  ·  2. Senaryo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3342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Ağustos 2026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7240" y="4773168"/>
            <a:ext cx="2514600" cy="384048"/>
          </a:xfrm>
          <a:prstGeom prst="roundRect">
            <a:avLst>
              <a:gd name="adj" fmla="val 16667"/>
            </a:avLst>
          </a:prstGeom>
          <a:solidFill>
            <a:srgbClr val="E1EAF4"/>
          </a:solidFill>
          <a:ln/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0" name="Text 7"/>
          <p:cNvSpPr txBox="1"/>
          <p:nvPr/>
        </p:nvSpPr>
        <p:spPr>
          <a:xfrm>
            <a:off x="777240" y="477316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#BilisimVadisi2026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560527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LINGUA-TECH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0314432" y="56052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me.jpg"/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TAKIM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786384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Takım ve görev dağılımı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560527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LINGUA-TECH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10314432" y="56052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63040"/>
            <a:ext cx="10634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Dört üye, sistemin dört katmanında ayrı sorumluluk taşıyor.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77240" y="2084832"/>
            <a:ext cx="2542032" cy="2084832"/>
          </a:xfrm>
          <a:prstGeom prst="roundRect">
            <a:avLst>
              <a:gd name="adj" fmla="val 3070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9" name="Shape 6"/>
          <p:cNvSpPr/>
          <p:nvPr/>
        </p:nvSpPr>
        <p:spPr>
          <a:xfrm>
            <a:off x="1664208" y="2331720"/>
            <a:ext cx="768096" cy="768096"/>
          </a:xfrm>
          <a:prstGeom prst="ellipse">
            <a:avLst/>
          </a:prstGeom>
          <a:solidFill>
            <a:srgbClr val="D3141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0" name="Text 7"/>
          <p:cNvSpPr txBox="1"/>
          <p:nvPr/>
        </p:nvSpPr>
        <p:spPr>
          <a:xfrm>
            <a:off x="1664208" y="23317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23544" y="3246120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Yiğit Varol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923544" y="3547872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00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Takım Kaptanı</a:t>
            </a:r>
            <a:endParaRPr lang="en-US" sz="10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00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/ LLM ve değerlendirme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474720" y="2084832"/>
            <a:ext cx="2542032" cy="2084832"/>
          </a:xfrm>
          <a:prstGeom prst="roundRect">
            <a:avLst>
              <a:gd name="adj" fmla="val 3070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4" name="Shape 11"/>
          <p:cNvSpPr/>
          <p:nvPr/>
        </p:nvSpPr>
        <p:spPr>
          <a:xfrm>
            <a:off x="4361688" y="2331720"/>
            <a:ext cx="768096" cy="768096"/>
          </a:xfrm>
          <a:prstGeom prst="ellipse">
            <a:avLst/>
          </a:prstGeom>
          <a:solidFill>
            <a:srgbClr val="1B3A66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5" name="Text 12"/>
          <p:cNvSpPr txBox="1"/>
          <p:nvPr/>
        </p:nvSpPr>
        <p:spPr>
          <a:xfrm>
            <a:off x="4361688" y="23317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YB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246120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Yiğitcan Bayık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3621024" y="3547872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00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Bilgi çıkarımı ve</a:t>
            </a:r>
            <a:endParaRPr lang="en-US" sz="10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00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normalizasyon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172200" y="2084832"/>
            <a:ext cx="2542032" cy="2084832"/>
          </a:xfrm>
          <a:prstGeom prst="roundRect">
            <a:avLst>
              <a:gd name="adj" fmla="val 3070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9" name="Shape 16"/>
          <p:cNvSpPr/>
          <p:nvPr/>
        </p:nvSpPr>
        <p:spPr>
          <a:xfrm>
            <a:off x="7059168" y="2331720"/>
            <a:ext cx="768096" cy="768096"/>
          </a:xfrm>
          <a:prstGeom prst="ellipse">
            <a:avLst/>
          </a:prstGeom>
          <a:solidFill>
            <a:srgbClr val="1B3A66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20" name="Text 17"/>
          <p:cNvSpPr txBox="1"/>
          <p:nvPr/>
        </p:nvSpPr>
        <p:spPr>
          <a:xfrm>
            <a:off x="7059168" y="23317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318504" y="3246120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Kağan Kutanoğlu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6318504" y="3547872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00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toplama ve</a:t>
            </a:r>
            <a:endParaRPr lang="en-US" sz="10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00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 işleme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8869680" y="2084832"/>
            <a:ext cx="2542032" cy="2084832"/>
          </a:xfrm>
          <a:prstGeom prst="roundRect">
            <a:avLst>
              <a:gd name="adj" fmla="val 3070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4" name="Shape 21"/>
          <p:cNvSpPr/>
          <p:nvPr/>
        </p:nvSpPr>
        <p:spPr>
          <a:xfrm>
            <a:off x="9756648" y="2331720"/>
            <a:ext cx="768096" cy="768096"/>
          </a:xfrm>
          <a:prstGeom prst="ellipse">
            <a:avLst/>
          </a:prstGeom>
          <a:solidFill>
            <a:srgbClr val="1B3A66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25" name="Text 22"/>
          <p:cNvSpPr txBox="1"/>
          <p:nvPr/>
        </p:nvSpPr>
        <p:spPr>
          <a:xfrm>
            <a:off x="9756648" y="23317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CÇ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9015984" y="3246120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Cem Çalışkan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9015984" y="3547872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00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API, dashboard ve</a:t>
            </a:r>
            <a:endParaRPr lang="en-US" sz="10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00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sunum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786384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Aynı bilgi, her bankada başka bir dille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560527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LINGUA-TECH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10314432" y="56052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63040"/>
            <a:ext cx="10634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Kâr payı, vade, masraf ve kampanya koşulları doğal dilde ve standart olmayan biçimlerde yayımlanıyor. Bankalar arası karşılaştırma bu yüzden manuel, yavaş ve hataya açık.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77240" y="2029968"/>
            <a:ext cx="2542032" cy="2084832"/>
          </a:xfrm>
          <a:prstGeom prst="roundRect">
            <a:avLst>
              <a:gd name="adj" fmla="val 3070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9" name="Text 6"/>
          <p:cNvSpPr txBox="1"/>
          <p:nvPr/>
        </p:nvSpPr>
        <p:spPr>
          <a:xfrm>
            <a:off x="978408" y="2194560"/>
            <a:ext cx="2139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KUVEYT TÜRK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978408" y="2487168"/>
            <a:ext cx="21396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0E2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“Aylık %2,99 kâr oranı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0E2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(120 ay)”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978408" y="3493008"/>
            <a:ext cx="2139696" cy="12802"/>
          </a:xfrm>
          <a:prstGeom prst="rect">
            <a:avLst/>
          </a:prstGeom>
          <a:solidFill>
            <a:srgbClr val="CBD8E6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2" name="Text 9"/>
          <p:cNvSpPr txBox="1"/>
          <p:nvPr/>
        </p:nvSpPr>
        <p:spPr>
          <a:xfrm>
            <a:off x="978408" y="3602736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 açık, vade parantezde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474720" y="2029968"/>
            <a:ext cx="2542032" cy="2084832"/>
          </a:xfrm>
          <a:prstGeom prst="roundRect">
            <a:avLst>
              <a:gd name="adj" fmla="val 3070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4" name="Text 11"/>
          <p:cNvSpPr txBox="1"/>
          <p:nvPr/>
        </p:nvSpPr>
        <p:spPr>
          <a:xfrm>
            <a:off x="3675888" y="2194560"/>
            <a:ext cx="2139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ALBARAKA TÜRK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675888" y="2487168"/>
            <a:ext cx="21396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0E2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“Aylık %3,04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0E2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(Yıllık %53,91 maliyet)”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675888" y="3493008"/>
            <a:ext cx="2139696" cy="12802"/>
          </a:xfrm>
          <a:prstGeom prst="rect">
            <a:avLst/>
          </a:prstGeom>
          <a:solidFill>
            <a:srgbClr val="CBD8E6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7" name="Text 14"/>
          <p:cNvSpPr txBox="1"/>
          <p:nvPr/>
        </p:nvSpPr>
        <p:spPr>
          <a:xfrm>
            <a:off x="3675888" y="3602736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Aylık ve yıllık iki farklı sayı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172200" y="2029968"/>
            <a:ext cx="2542032" cy="2084832"/>
          </a:xfrm>
          <a:prstGeom prst="roundRect">
            <a:avLst>
              <a:gd name="adj" fmla="val 3070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9" name="Text 16"/>
          <p:cNvSpPr txBox="1"/>
          <p:nvPr/>
        </p:nvSpPr>
        <p:spPr>
          <a:xfrm>
            <a:off x="6373368" y="2194560"/>
            <a:ext cx="2139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ALBARAKA TÜRK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6373368" y="2487168"/>
            <a:ext cx="21396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0E2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“…vade farksız veya özel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0E2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oranlı Pratik Finansman…”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373368" y="3493008"/>
            <a:ext cx="2139696" cy="12802"/>
          </a:xfrm>
          <a:prstGeom prst="rect">
            <a:avLst/>
          </a:prstGeom>
          <a:solidFill>
            <a:srgbClr val="CBD8E6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22" name="Text 19"/>
          <p:cNvSpPr txBox="1"/>
          <p:nvPr/>
        </p:nvSpPr>
        <p:spPr>
          <a:xfrm>
            <a:off x="6373368" y="3602736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 hiç yazılmıyor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869680" y="2029968"/>
            <a:ext cx="2542032" cy="2084832"/>
          </a:xfrm>
          <a:prstGeom prst="roundRect">
            <a:avLst>
              <a:gd name="adj" fmla="val 3070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4" name="Text 21"/>
          <p:cNvSpPr txBox="1"/>
          <p:nvPr/>
        </p:nvSpPr>
        <p:spPr>
          <a:xfrm>
            <a:off x="9070848" y="2194560"/>
            <a:ext cx="2139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KUVEYT TÜRK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9070848" y="2487168"/>
            <a:ext cx="21396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0E2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“…dosya masrafı olmadan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0E2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veya düşük kâr oranları…”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9070848" y="3493008"/>
            <a:ext cx="2139696" cy="12802"/>
          </a:xfrm>
          <a:prstGeom prst="rect">
            <a:avLst/>
          </a:prstGeom>
          <a:solidFill>
            <a:srgbClr val="CBD8E6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27" name="Text 24"/>
          <p:cNvSpPr txBox="1"/>
          <p:nvPr/>
        </p:nvSpPr>
        <p:spPr>
          <a:xfrm>
            <a:off x="9070848" y="3602736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Avantaj nitel ifadeyle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777240" y="4389120"/>
            <a:ext cx="10634472" cy="749808"/>
          </a:xfrm>
          <a:prstGeom prst="roundRect">
            <a:avLst>
              <a:gd name="adj" fmla="val 8537"/>
            </a:avLst>
          </a:prstGeom>
          <a:solidFill>
            <a:srgbClr val="1B3A66"/>
          </a:solidFill>
          <a:ln/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9" name="Text 26"/>
          <p:cNvSpPr txBox="1"/>
          <p:nvPr/>
        </p:nvSpPr>
        <p:spPr>
          <a:xfrm>
            <a:off x="1051560" y="4389120"/>
            <a:ext cx="100858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FC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Hedef:  </a:t>
            </a:r>
            <a:r>
              <a:rPr lang="en-US" sz="1200" dirty="0">
                <a:solidFill>
                  <a:srgbClr val="E2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Dağınık kampanya metnini tek bir karşılaştırılabilir veri diline çevirmek — ve bunu kurum içinde, dışarı veri çıkarmadan yapmak.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VERİ SETİ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786384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faal katılım bankasının resmî kaynakları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560527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LINGUA-TECH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10314432" y="56052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517904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2468880" y="16276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katılım bankası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77240" y="2157984"/>
            <a:ext cx="4069080" cy="10973"/>
          </a:xfrm>
          <a:prstGeom prst="rect">
            <a:avLst/>
          </a:prstGeom>
          <a:solidFill>
            <a:srgbClr val="CBD8E6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0" name="Text 7"/>
          <p:cNvSpPr txBox="1"/>
          <p:nvPr/>
        </p:nvSpPr>
        <p:spPr>
          <a:xfrm>
            <a:off x="777240" y="230428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1.114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41401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 ve kampanya kaydı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77240" y="2944368"/>
            <a:ext cx="4069080" cy="10973"/>
          </a:xfrm>
          <a:prstGeom prst="rect">
            <a:avLst/>
          </a:prstGeom>
          <a:solidFill>
            <a:srgbClr val="CBD8E6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3" name="Text 10"/>
          <p:cNvSpPr txBox="1"/>
          <p:nvPr/>
        </p:nvSpPr>
        <p:spPr>
          <a:xfrm>
            <a:off x="777240" y="3090672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949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2468880" y="3200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belge → 2.893 metin parçası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77240" y="3730752"/>
            <a:ext cx="4069080" cy="10973"/>
          </a:xfrm>
          <a:prstGeom prst="rect">
            <a:avLst/>
          </a:prstGeom>
          <a:solidFill>
            <a:srgbClr val="CBD8E6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6" name="Text 13"/>
          <p:cNvSpPr txBox="1"/>
          <p:nvPr/>
        </p:nvSpPr>
        <p:spPr>
          <a:xfrm>
            <a:off x="777240" y="3877056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942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2468880" y="398678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 URL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257800" y="1463040"/>
            <a:ext cx="6153912" cy="3017520"/>
          </a:xfrm>
          <a:prstGeom prst="roundRect">
            <a:avLst>
              <a:gd name="adj" fmla="val 2121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9" name="Text 16"/>
          <p:cNvSpPr txBox="1"/>
          <p:nvPr/>
        </p:nvSpPr>
        <p:spPr>
          <a:xfrm>
            <a:off x="5468112" y="1591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Banka başına kayıt sayısı</a:t>
            </a:r>
            <a:endParaRPr lang="en-US" sz="1050" dirty="0"/>
          </a:p>
        </p:txBody>
      </p:sp>
      <p:graphicFrame>
        <p:nvGraphicFramePr>
          <p:cNvPr id="20" name="Chart 0"/>
          <p:cNvGraphicFramePr/>
          <p:nvPr/>
        </p:nvGraphicFramePr>
        <p:xfrm>
          <a:off x="5413248" y="1847088"/>
          <a:ext cx="5833872" cy="25054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77240" y="4626864"/>
            <a:ext cx="10634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Toplama: Python + Playwright ile bankaların resmî web siteleri (ürün, kampanya, oran sayfaları) tarandı; JavaScript ile yüklenen oran tabloları için tarayıcı otomasyonu </a:t>
            </a:r>
            <a:r>
              <a:rPr lang="en-US" sz="100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kullanıldı</a:t>
            </a:r>
            <a:r>
              <a:rPr lang="en-US" sz="100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SİSTEM MİMARİSİ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786384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 web metninden iki cevap motoruna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560527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LINGUA-TECH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10314432" y="56052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63040"/>
            <a:ext cx="1063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VERİ HAZIRLAMA · bir kez çalışır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" y="1719072"/>
            <a:ext cx="2551176" cy="841248"/>
          </a:xfrm>
          <a:prstGeom prst="roundRect">
            <a:avLst>
              <a:gd name="adj" fmla="val 7609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9" name="Text 6"/>
          <p:cNvSpPr txBox="1"/>
          <p:nvPr/>
        </p:nvSpPr>
        <p:spPr>
          <a:xfrm>
            <a:off x="923544" y="1828800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Banka web siteleri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23544" y="2084832"/>
            <a:ext cx="225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banka, resmî sayfalar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81172" y="1993392"/>
            <a:ext cx="237744" cy="182880"/>
          </a:xfrm>
          <a:prstGeom prst="rightArrow">
            <a:avLst/>
          </a:prstGeom>
          <a:solidFill>
            <a:srgbClr val="3B7FC4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2" name="Shape 9"/>
          <p:cNvSpPr/>
          <p:nvPr/>
        </p:nvSpPr>
        <p:spPr>
          <a:xfrm>
            <a:off x="3471672" y="1719072"/>
            <a:ext cx="2551176" cy="841248"/>
          </a:xfrm>
          <a:prstGeom prst="roundRect">
            <a:avLst>
              <a:gd name="adj" fmla="val 7609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3" name="Text 10"/>
          <p:cNvSpPr txBox="1"/>
          <p:nvPr/>
        </p:nvSpPr>
        <p:spPr>
          <a:xfrm>
            <a:off x="3617976" y="1828800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 çekme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617976" y="2084832"/>
            <a:ext cx="225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Playwright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975604" y="1993392"/>
            <a:ext cx="237744" cy="182880"/>
          </a:xfrm>
          <a:prstGeom prst="rightArrow">
            <a:avLst/>
          </a:prstGeom>
          <a:solidFill>
            <a:srgbClr val="3B7FC4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6" name="Shape 13"/>
          <p:cNvSpPr/>
          <p:nvPr/>
        </p:nvSpPr>
        <p:spPr>
          <a:xfrm>
            <a:off x="6166104" y="1719072"/>
            <a:ext cx="2551176" cy="841248"/>
          </a:xfrm>
          <a:prstGeom prst="roundRect">
            <a:avLst>
              <a:gd name="adj" fmla="val 7609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7" name="Text 14"/>
          <p:cNvSpPr txBox="1"/>
          <p:nvPr/>
        </p:nvSpPr>
        <p:spPr>
          <a:xfrm>
            <a:off x="6312408" y="1828800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 işleme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312408" y="2084832"/>
            <a:ext cx="225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gürültü temizleme, tekrar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birleştirme, chunk’lama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670036" y="1993392"/>
            <a:ext cx="237744" cy="182880"/>
          </a:xfrm>
          <a:prstGeom prst="rightArrow">
            <a:avLst/>
          </a:prstGeom>
          <a:solidFill>
            <a:srgbClr val="3B7FC4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20" name="Shape 17"/>
          <p:cNvSpPr/>
          <p:nvPr/>
        </p:nvSpPr>
        <p:spPr>
          <a:xfrm>
            <a:off x="8860536" y="1719072"/>
            <a:ext cx="2551176" cy="841248"/>
          </a:xfrm>
          <a:prstGeom prst="roundRect">
            <a:avLst>
              <a:gd name="adj" fmla="val 7609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1" name="Text 18"/>
          <p:cNvSpPr txBox="1"/>
          <p:nvPr/>
        </p:nvSpPr>
        <p:spPr>
          <a:xfrm>
            <a:off x="9006840" y="1828800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Bilgi çıkarımı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9006840" y="2084832"/>
            <a:ext cx="225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+ normalizasyon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4 sütunlu şema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777240" y="2706624"/>
            <a:ext cx="5161788" cy="731520"/>
          </a:xfrm>
          <a:prstGeom prst="roundRect">
            <a:avLst>
              <a:gd name="adj" fmla="val 8750"/>
            </a:avLst>
          </a:prstGeom>
          <a:solidFill>
            <a:srgbClr val="1B3A66"/>
          </a:solidFill>
          <a:ln/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4" name="Text 21"/>
          <p:cNvSpPr txBox="1"/>
          <p:nvPr/>
        </p:nvSpPr>
        <p:spPr>
          <a:xfrm>
            <a:off x="923544" y="2816352"/>
            <a:ext cx="4869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· yapılandırılmış tablo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923544" y="3072384"/>
            <a:ext cx="4869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B9C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1.114 kayıt, 39 alan — sayısal sorular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249924" y="2706624"/>
            <a:ext cx="5161788" cy="731520"/>
          </a:xfrm>
          <a:prstGeom prst="roundRect">
            <a:avLst>
              <a:gd name="adj" fmla="val 8750"/>
            </a:avLst>
          </a:prstGeom>
          <a:solidFill>
            <a:srgbClr val="1B3A66"/>
          </a:solidFill>
          <a:ln/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7" name="Text 24"/>
          <p:cNvSpPr txBox="1"/>
          <p:nvPr/>
        </p:nvSpPr>
        <p:spPr>
          <a:xfrm>
            <a:off x="6396228" y="2816352"/>
            <a:ext cx="4869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 · vektör dizini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6396228" y="3072384"/>
            <a:ext cx="4869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B9C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gömme, 2.893 parça — anlamsal sorular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3602736"/>
            <a:ext cx="1063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CEVAP ÜRETİMİ · her soruda çalışır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777240" y="3858768"/>
            <a:ext cx="2212848" cy="786384"/>
          </a:xfrm>
          <a:prstGeom prst="roundRect">
            <a:avLst>
              <a:gd name="adj" fmla="val 8140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31" name="Text 28"/>
          <p:cNvSpPr txBox="1"/>
          <p:nvPr/>
        </p:nvSpPr>
        <p:spPr>
          <a:xfrm>
            <a:off x="923544" y="39684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Soru → yönlendirme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923544" y="422452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 tabanlı, LLM’e bırakılmaz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3081528" y="4133088"/>
            <a:ext cx="237744" cy="182880"/>
          </a:xfrm>
          <a:prstGeom prst="rightArrow">
            <a:avLst/>
          </a:prstGeom>
          <a:solidFill>
            <a:srgbClr val="3B7FC4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34" name="Shape 31"/>
          <p:cNvSpPr/>
          <p:nvPr/>
        </p:nvSpPr>
        <p:spPr>
          <a:xfrm>
            <a:off x="3410712" y="3858768"/>
            <a:ext cx="2395728" cy="786384"/>
          </a:xfrm>
          <a:prstGeom prst="roundRect">
            <a:avLst>
              <a:gd name="adj" fmla="val 8140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35" name="Text 32"/>
          <p:cNvSpPr txBox="1"/>
          <p:nvPr/>
        </p:nvSpPr>
        <p:spPr>
          <a:xfrm>
            <a:off x="3557016" y="396849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motoru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3557016" y="42245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sayma · sıralama ·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karşılaştırma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5989320" y="3858768"/>
            <a:ext cx="2395728" cy="786384"/>
          </a:xfrm>
          <a:prstGeom prst="roundRect">
            <a:avLst>
              <a:gd name="adj" fmla="val 8140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38" name="Text 35"/>
          <p:cNvSpPr txBox="1"/>
          <p:nvPr/>
        </p:nvSpPr>
        <p:spPr>
          <a:xfrm>
            <a:off x="6135624" y="396849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motoru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6135624" y="42245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vektör arama + reranker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kaynaklı cevap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8476488" y="4133088"/>
            <a:ext cx="237744" cy="182880"/>
          </a:xfrm>
          <a:prstGeom prst="rightArrow">
            <a:avLst/>
          </a:prstGeom>
          <a:solidFill>
            <a:srgbClr val="3B7FC4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41" name="Shape 38"/>
          <p:cNvSpPr/>
          <p:nvPr/>
        </p:nvSpPr>
        <p:spPr>
          <a:xfrm>
            <a:off x="8714232" y="3858768"/>
            <a:ext cx="2697480" cy="786384"/>
          </a:xfrm>
          <a:prstGeom prst="roundRect">
            <a:avLst>
              <a:gd name="adj" fmla="val 8140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42" name="Text 39"/>
          <p:cNvSpPr txBox="1"/>
          <p:nvPr/>
        </p:nvSpPr>
        <p:spPr>
          <a:xfrm>
            <a:off x="8860536" y="396849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Qwen2.5 7B → FastAPI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8860536" y="4224528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+ chatbot,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 linkleriyle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777240" y="4791456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Yönlendirme kural tabanlıdır: aynı soru her zaman aynı yola gider, test edilebilir. Tüm bileşenler kurum içi sunucuda çalışır.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BİLGİ ÇIKARIMI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786384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Metinden şartnamenin dört sütunlu şemasına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560527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LINGUA-TECH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10314432" y="56052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777240" y="1463040"/>
            <a:ext cx="4846320" cy="3017520"/>
          </a:xfrm>
          <a:prstGeom prst="roundRect">
            <a:avLst>
              <a:gd name="adj" fmla="val 2121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8" name="Text 5"/>
          <p:cNvSpPr txBox="1"/>
          <p:nvPr/>
        </p:nvSpPr>
        <p:spPr>
          <a:xfrm>
            <a:off x="1014984" y="1645920"/>
            <a:ext cx="4370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GİRDİ · KAMPANYA METNİ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014984" y="1975104"/>
            <a:ext cx="437083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en-US" sz="1150" i="1" dirty="0">
                <a:solidFill>
                  <a:srgbClr val="0E2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“Ağustos Ayına Özel Fatura Kampanyası — Kampanya Başlangıç ve Bitiş 01.08.2026 - 31.08.2026. ‘OFT2026’ koduyla müşterimiz olun, Albaraka World kredi kartınızla Albaraka Mobil üzerinden vereceğiniz her otomatik fatura ödeme talimatı için 500 TL, toplamda 2.000 TL Worldpuan kazanın!”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014984" y="4005072"/>
            <a:ext cx="4370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Albaraka Türk · kampanya sayfası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897880" y="2816352"/>
            <a:ext cx="402336" cy="310896"/>
          </a:xfrm>
          <a:prstGeom prst="rightArrow">
            <a:avLst/>
          </a:prstGeom>
          <a:solidFill>
            <a:srgbClr val="D3141C"/>
          </a:solidFill>
          <a:ln/>
        </p:spPr>
        <p:txBody>
          <a:bodyPr/>
          <a:lstStyle/>
          <a:p>
            <a:endParaRPr lang="tr-TR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463040"/>
          <a:ext cx="4828032" cy="2688336"/>
        </p:xfrm>
        <a:graphic>
          <a:graphicData uri="http://schemas.openxmlformats.org/drawingml/2006/table">
            <a:tbl>
              <a:tblPr/>
              <a:tblGrid>
                <a:gridCol w="12984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295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E22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Banka Bilgisi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3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Albaraka Türk Katılım Bankası A.Ş.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E22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Finansman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E22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Bilgileri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3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Kart kampanyası — finansman alanı yok. Doğrulanmayan alanın satırı cevap bağlamına hiç yazılmaz.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70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E22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Kampanya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E22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Bilgileri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3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Tür: Kart Kampanyası · Ödül: 500 TL / talimat, toplam 2.000 TL Worldpuan · Süre: 2026-08-01 → 2026-08-31 · Koşul: OFT2026 davet kodu, otomatik fatura talimatı · Durum: aktif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E22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Hedef Kitle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3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müşterilere özel (yeni_musteri = 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77240" y="4626864"/>
            <a:ext cx="10634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50"/>
              </a:lnSpc>
              <a:buNone/>
            </a:pPr>
            <a:r>
              <a:rPr lang="en-US" sz="100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Şema: Banka · Finansman (kâr payı, tutar, vade, taksit, tahsis ücreti, masraf) · Kampanya (tür, ödül, indirim, puan, süre, koşul) · Hedef kitle (yeni / mevcut / maaş / KOBİ).  Doğrulanamayan alan hiç yazılmaz — ne uydurma değer ne “Belirtilmemiş” etiketi; ölçümle belirlendi. Dolaylı ifadeler (“özel oranlı”, “avantajlı kâr payı”) ayrı </a:t>
            </a:r>
            <a:r>
              <a:rPr lang="en-US" sz="100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alanda</a:t>
            </a:r>
            <a:r>
              <a:rPr lang="en-US" sz="100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etiketlenir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NORMALİZASYON VE TERMİNOLOJİ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786384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Farklı yazım biçimleri tek standarda iner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560527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LINGUA-TECH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10314432" y="56052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777240" y="1463040"/>
            <a:ext cx="3361944" cy="1755648"/>
          </a:xfrm>
          <a:prstGeom prst="roundRect">
            <a:avLst>
              <a:gd name="adj" fmla="val 3646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8" name="Text 5"/>
          <p:cNvSpPr txBox="1"/>
          <p:nvPr/>
        </p:nvSpPr>
        <p:spPr>
          <a:xfrm>
            <a:off x="978408" y="1609344"/>
            <a:ext cx="2959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1920240"/>
            <a:ext cx="2959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%2,05   ·   % 2.05   ·   2.05 %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978408" y="2487168"/>
            <a:ext cx="2959608" cy="12802"/>
          </a:xfrm>
          <a:prstGeom prst="rect">
            <a:avLst/>
          </a:prstGeom>
          <a:solidFill>
            <a:srgbClr val="CBD8E6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1" name="Text 8"/>
          <p:cNvSpPr txBox="1"/>
          <p:nvPr/>
        </p:nvSpPr>
        <p:spPr>
          <a:xfrm>
            <a:off x="978408" y="2596896"/>
            <a:ext cx="2959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2.05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413504" y="1463040"/>
            <a:ext cx="3361944" cy="1755648"/>
          </a:xfrm>
          <a:prstGeom prst="roundRect">
            <a:avLst>
              <a:gd name="adj" fmla="val 3646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3" name="Text 10"/>
          <p:cNvSpPr txBox="1"/>
          <p:nvPr/>
        </p:nvSpPr>
        <p:spPr>
          <a:xfrm>
            <a:off x="4614672" y="1609344"/>
            <a:ext cx="2959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Tutar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614672" y="1920240"/>
            <a:ext cx="2959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TL · 500₺ · 500 Türk Lirası · 1,5 milyon TL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614672" y="2487168"/>
            <a:ext cx="2959608" cy="12802"/>
          </a:xfrm>
          <a:prstGeom prst="rect">
            <a:avLst/>
          </a:prstGeom>
          <a:solidFill>
            <a:srgbClr val="CBD8E6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6" name="Text 13"/>
          <p:cNvSpPr txBox="1"/>
          <p:nvPr/>
        </p:nvSpPr>
        <p:spPr>
          <a:xfrm>
            <a:off x="4614672" y="2596896"/>
            <a:ext cx="2959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 ·  1.500.000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049768" y="1463040"/>
            <a:ext cx="3361944" cy="1755648"/>
          </a:xfrm>
          <a:prstGeom prst="roundRect">
            <a:avLst>
              <a:gd name="adj" fmla="val 3646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8" name="Text 15"/>
          <p:cNvSpPr txBox="1"/>
          <p:nvPr/>
        </p:nvSpPr>
        <p:spPr>
          <a:xfrm>
            <a:off x="8250936" y="1609344"/>
            <a:ext cx="2959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Tarih ve durum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250936" y="1920240"/>
            <a:ext cx="2959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Aralık 2026 · 31.12.2026 · 31/12/2026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50936" y="2487168"/>
            <a:ext cx="2959608" cy="12802"/>
          </a:xfrm>
          <a:prstGeom prst="rect">
            <a:avLst/>
          </a:prstGeom>
          <a:solidFill>
            <a:srgbClr val="CBD8E6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21" name="Text 18"/>
          <p:cNvSpPr txBox="1"/>
          <p:nvPr/>
        </p:nvSpPr>
        <p:spPr>
          <a:xfrm>
            <a:off x="8250936" y="2596896"/>
            <a:ext cx="2959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2026-12-31 → aktif / süresi dolmuş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77240" y="3401568"/>
            <a:ext cx="5180076" cy="1700784"/>
          </a:xfrm>
          <a:prstGeom prst="roundRect">
            <a:avLst>
              <a:gd name="adj" fmla="val 3763"/>
            </a:avLst>
          </a:prstGeom>
          <a:solidFill>
            <a:srgbClr val="1B3A66"/>
          </a:solidFill>
          <a:ln/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3" name="Text 20"/>
          <p:cNvSpPr txBox="1"/>
          <p:nvPr/>
        </p:nvSpPr>
        <p:spPr>
          <a:xfrm>
            <a:off x="1014984" y="3547872"/>
            <a:ext cx="47045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Katılım bankacılığı terminolojisi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1014984" y="3840480"/>
            <a:ext cx="47045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faiz → kâr payı   ·   kredi → finansman   ·   mevduat → katılma hesabı</a:t>
            </a:r>
            <a:endParaRPr lang="en-US" sz="10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karakter katlama: “kuveytturk” = “Kuveyt Türk”; kısaltmalar (kt, zk, tf) tanınır.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231636" y="3401568"/>
            <a:ext cx="5180076" cy="1700784"/>
          </a:xfrm>
          <a:prstGeom prst="roundRect">
            <a:avLst>
              <a:gd name="adj" fmla="val 3763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6" name="Text 23"/>
          <p:cNvSpPr txBox="1"/>
          <p:nvPr/>
        </p:nvSpPr>
        <p:spPr>
          <a:xfrm>
            <a:off x="6469380" y="3547872"/>
            <a:ext cx="47045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Kampanya </a:t>
            </a:r>
            <a:r>
              <a:rPr lang="en-US" sz="1150" b="1" dirty="0" err="1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türü</a:t>
            </a:r>
            <a:r>
              <a:rPr lang="en-US" sz="115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50" b="1" dirty="0" err="1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sınıflandırması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6469380" y="3840480"/>
            <a:ext cx="47045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Finansman</a:t>
            </a: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Kart  · Alışveriş </a:t>
            </a:r>
            <a:r>
              <a:rPr lang="en-US" sz="105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Puanı</a:t>
            </a: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</a:t>
            </a:r>
            <a:r>
              <a:rPr lang="en-US" sz="105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Taşıt</a:t>
            </a: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</a:t>
            </a:r>
            <a:r>
              <a:rPr lang="en-US" sz="105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İhtiyaç</a:t>
            </a: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Yeni </a:t>
            </a:r>
            <a:r>
              <a:rPr lang="en-US" sz="105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</a:t>
            </a: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</a:t>
            </a:r>
            <a:r>
              <a:rPr lang="en-US" sz="105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Konut</a:t>
            </a: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</a:t>
            </a:r>
            <a:r>
              <a:rPr lang="en-US" sz="105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Yatırım</a:t>
            </a: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Ürünü</a:t>
            </a:r>
            <a:endParaRPr lang="en-US" sz="1050" dirty="0"/>
          </a:p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 </a:t>
            </a:r>
            <a:r>
              <a:rPr lang="en-US" sz="105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tabanlı</a:t>
            </a: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5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başlık</a:t>
            </a: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</a:t>
            </a: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metin</a:t>
            </a: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üzerinden</a:t>
            </a: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r>
              <a:rPr lang="en-US" sz="105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ayrıca</a:t>
            </a: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segment (</a:t>
            </a:r>
            <a:r>
              <a:rPr lang="en-US" sz="105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bireysel</a:t>
            </a: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05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ticari</a:t>
            </a: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05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tarım</a:t>
            </a: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r>
              <a:rPr lang="en-US" sz="105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</a:t>
            </a: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geçerlilik</a:t>
            </a: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etiketi</a:t>
            </a:r>
            <a:r>
              <a:rPr lang="en-US" sz="10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HİBRİT CEVAP MOTORU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786384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Sayısal sorular SQL’e, açıklama soruları RAG’a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560527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LINGUA-TECH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10314432" y="56052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777240" y="1463040"/>
            <a:ext cx="5161788" cy="3218688"/>
          </a:xfrm>
          <a:prstGeom prst="roundRect">
            <a:avLst>
              <a:gd name="adj" fmla="val 1989"/>
            </a:avLst>
          </a:prstGeom>
          <a:solidFill>
            <a:srgbClr val="1B3A66"/>
          </a:solidFill>
          <a:ln/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8" name="Text 5"/>
          <p:cNvSpPr txBox="1"/>
          <p:nvPr/>
        </p:nvSpPr>
        <p:spPr>
          <a:xfrm>
            <a:off x="1051560" y="1645920"/>
            <a:ext cx="4613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FC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yolu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1975104"/>
            <a:ext cx="46131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AFC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“En uzun vadeli konut finansmanı hangi bankada?”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051560" y="2395728"/>
            <a:ext cx="4613148" cy="12802"/>
          </a:xfrm>
          <a:prstGeom prst="rect">
            <a:avLst/>
          </a:prstGeom>
          <a:solidFill>
            <a:srgbClr val="3A5C88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1" name="Text 8"/>
          <p:cNvSpPr txBox="1"/>
          <p:nvPr/>
        </p:nvSpPr>
        <p:spPr>
          <a:xfrm>
            <a:off x="1051560" y="2542032"/>
            <a:ext cx="46131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DC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çıkarımı: banka, ürün, metrik, aktiflik, yön (en yüksek / en düşük), harcama eşiği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DC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şablon (sıralama, sayma, karşılaştırma, üç eşik sorgusu) — serbest SQL üretilmez, enjeksiyon yok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DC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1.114 kaydın tamamına bakar; sayar, sıralar, karşılaştırır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DC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 şartname şemasında LLM’e verilir, akıcı Türkçeye çevrilir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49924" y="1463040"/>
            <a:ext cx="5161788" cy="3218688"/>
          </a:xfrm>
          <a:prstGeom prst="roundRect">
            <a:avLst>
              <a:gd name="adj" fmla="val 1989"/>
            </a:avLst>
          </a:prstGeom>
          <a:solidFill>
            <a:srgbClr val="1B3A66"/>
          </a:solidFill>
          <a:ln/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3" name="Text 10"/>
          <p:cNvSpPr txBox="1"/>
          <p:nvPr/>
        </p:nvSpPr>
        <p:spPr>
          <a:xfrm>
            <a:off x="6524244" y="1645920"/>
            <a:ext cx="4613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C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yolu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524244" y="1975104"/>
            <a:ext cx="46131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AFC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“Ziraat Katılım’ın market kampanyasından kimler yararlanabilir, koşulları ne?”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24244" y="2395728"/>
            <a:ext cx="4613148" cy="12802"/>
          </a:xfrm>
          <a:prstGeom prst="rect">
            <a:avLst/>
          </a:prstGeom>
          <a:solidFill>
            <a:srgbClr val="3A5C88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6" name="Text 13"/>
          <p:cNvSpPr txBox="1"/>
          <p:nvPr/>
        </p:nvSpPr>
        <p:spPr>
          <a:xfrm>
            <a:off x="6524244" y="2542032"/>
            <a:ext cx="46131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DC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filtresi (banka, geçerlilik) → bge-m3 vektör arama (12 aday) + IDF sözcüksel yedek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DC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bge-reranker-v2-m3 ile yeniden sıralama → LLM’e 8 parça, belge başına en fazla 2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DC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katmanlı göreli eşik (vektör + reranker): korpusta yoksa “bilgi yok” der, kaynak listesi de boş döner</a:t>
            </a:r>
            <a:endParaRPr lang="en-US" sz="105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DC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 kaynak URL’leriyle birlikte döner; süresi dolmuş kampanya etiketlenir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KARŞILAŞTIRMA ÇIKTISI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786384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Üç bankanın konut finansmanı, tek tabloda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560527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LINGUA-TECH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10314432" y="56052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463040"/>
          <a:ext cx="10634472" cy="1572768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340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Kâr payı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(aylık)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Azami tutar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Masraf durumu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Kampanya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süresi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3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Türkiye Finans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3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İlk Konutunu Alan Konut Finansmanı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D314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%2,88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3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 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3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20.000.000 TL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3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Ekspertiz ve ipotek tesis ücreti, sigorta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3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31.12.2026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3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Ziraat Katılım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3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Konut Finansmanı Kampanya Paketi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D314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%2,89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3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 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3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20.000.000 TL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3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Ekspertiz, ipotek tesis ve tahsis ücreti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3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31.12.2026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3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Kuveyt Türk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3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Konut Finansmanı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D314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%2,99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3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 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3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20.000.000 TL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3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Ekspertiz (asgari 23.203 TL), ipotek tesis ücreti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3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31.12.2026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77240" y="3310128"/>
            <a:ext cx="6720840" cy="1572768"/>
          </a:xfrm>
          <a:prstGeom prst="roundRect">
            <a:avLst>
              <a:gd name="adj" fmla="val 4070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9" name="Text 5"/>
          <p:cNvSpPr txBox="1"/>
          <p:nvPr/>
        </p:nvSpPr>
        <p:spPr>
          <a:xfrm>
            <a:off x="1014984" y="3456432"/>
            <a:ext cx="6245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Asistan cevabı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1014984" y="3730752"/>
            <a:ext cx="62453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13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Kâr payı açısından Türkiye Finans öne çıkıyor (%2,88); Ziraat Katılım %2,89 ile çok yakın. Vade açısından üç banka da 120 aya kadar imkân sunuyor. Masraf açısından Kuveyt Türk’te ekspertiz alt sınırı (23.203 TL) belirtilmiş; diğerlerinde tutar verilmemiş.</a:t>
            </a:r>
            <a:endParaRPr lang="en-US" sz="1050" dirty="0"/>
          </a:p>
        </p:txBody>
      </p:sp>
      <p:sp>
        <p:nvSpPr>
          <p:cNvPr id="7" name="Shape 7"/>
          <p:cNvSpPr/>
          <p:nvPr/>
        </p:nvSpPr>
        <p:spPr>
          <a:xfrm>
            <a:off x="7772400" y="3310128"/>
            <a:ext cx="3639312" cy="1572768"/>
          </a:xfrm>
          <a:prstGeom prst="roundRect">
            <a:avLst>
              <a:gd name="adj" fmla="val 4070"/>
            </a:avLst>
          </a:prstGeom>
          <a:solidFill>
            <a:srgbClr val="1B3A66"/>
          </a:solidFill>
          <a:ln/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2" name="Text 8"/>
          <p:cNvSpPr txBox="1"/>
          <p:nvPr/>
        </p:nvSpPr>
        <p:spPr>
          <a:xfrm>
            <a:off x="8010144" y="34564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FC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010144" y="3730752"/>
            <a:ext cx="316382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C9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 tipine göre karşılaştırma tablosu ve vade grafiği · banka / durum / tür filtreli kampanya listesi · en düşük kâr payı, en uzun vade, en düşük masraf sıralamaları.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DEĞERLENDİRME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786384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Deterministik test kiti ile ölçülen başarı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560527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LINGUA-TECH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10314432" y="56052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777240" y="1463040"/>
            <a:ext cx="2542032" cy="1207008"/>
          </a:xfrm>
          <a:prstGeom prst="roundRect">
            <a:avLst>
              <a:gd name="adj" fmla="val 5303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8" name="Text 5"/>
          <p:cNvSpPr txBox="1"/>
          <p:nvPr/>
        </p:nvSpPr>
        <p:spPr>
          <a:xfrm>
            <a:off x="996696" y="1591056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996696" y="2084832"/>
            <a:ext cx="2103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değerlendirme sorusu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474720" y="1463040"/>
            <a:ext cx="2542032" cy="1207008"/>
          </a:xfrm>
          <a:prstGeom prst="roundRect">
            <a:avLst>
              <a:gd name="adj" fmla="val 5303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1" name="Text 8"/>
          <p:cNvSpPr txBox="1"/>
          <p:nvPr/>
        </p:nvSpPr>
        <p:spPr>
          <a:xfrm>
            <a:off x="3694176" y="1591056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0,89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3694176" y="2084832"/>
            <a:ext cx="2103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ortalama puan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172200" y="1463040"/>
            <a:ext cx="2542032" cy="1207008"/>
          </a:xfrm>
          <a:prstGeom prst="roundRect">
            <a:avLst>
              <a:gd name="adj" fmla="val 5303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4" name="Text 11"/>
          <p:cNvSpPr txBox="1"/>
          <p:nvPr/>
        </p:nvSpPr>
        <p:spPr>
          <a:xfrm>
            <a:off x="6391656" y="1591056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0,95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6391656" y="2084832"/>
            <a:ext cx="2103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 doğruluğu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(tutar, taksit, vade)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869680" y="1463040"/>
            <a:ext cx="2542032" cy="1207008"/>
          </a:xfrm>
          <a:prstGeom prst="roundRect">
            <a:avLst>
              <a:gd name="adj" fmla="val 5303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7" name="Text 14"/>
          <p:cNvSpPr txBox="1"/>
          <p:nvPr/>
        </p:nvSpPr>
        <p:spPr>
          <a:xfrm>
            <a:off x="9089136" y="1591056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4,97 sn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9089136" y="2084832"/>
            <a:ext cx="2103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 başına süre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777240" y="2871216"/>
            <a:ext cx="6720840" cy="2212848"/>
          </a:xfrm>
          <a:prstGeom prst="roundRect">
            <a:avLst>
              <a:gd name="adj" fmla="val 2893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0" name="Text 17"/>
          <p:cNvSpPr txBox="1"/>
          <p:nvPr/>
        </p:nvSpPr>
        <p:spPr>
          <a:xfrm>
            <a:off x="1033272" y="3017520"/>
            <a:ext cx="6208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ölçülüyor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33272" y="3310128"/>
            <a:ext cx="620877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5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3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hakem yok: anahtar kapsamı, banka isabeti, sayısal doğruluk, kaynak gösterimi, dayanaksız sayı (halüsinasyon) metrikleri</a:t>
            </a:r>
            <a:endParaRPr lang="en-US" sz="1000" dirty="0"/>
          </a:p>
          <a:p>
            <a:pPr marL="342900" indent="-342900">
              <a:lnSpc>
                <a:spcPts val="135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3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Tuzak grupları: halüsinasyon (12 soru), süresi dolmuş kampanya, yatırım tavsiyesi, olmayan banka</a:t>
            </a:r>
            <a:endParaRPr lang="en-US" sz="1000" dirty="0"/>
          </a:p>
          <a:p>
            <a:pPr marL="342900" indent="-342900">
              <a:lnSpc>
                <a:spcPts val="135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3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Dayanıklılık: Türkçe karaktersiz yazım, eş anlamlı, kısa sorgu, ifade varyantları</a:t>
            </a:r>
            <a:endParaRPr lang="en-US" sz="1000" dirty="0"/>
          </a:p>
          <a:p>
            <a:pPr marL="342900" indent="-342900">
              <a:lnSpc>
                <a:spcPts val="135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3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LLM’siz SQL regresyon zinciri her değişikliği 138 soruda diff’ler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772400" y="2871216"/>
            <a:ext cx="3639312" cy="2212848"/>
          </a:xfrm>
          <a:prstGeom prst="roundRect">
            <a:avLst>
              <a:gd name="adj" fmla="val 2893"/>
            </a:avLst>
          </a:prstGeom>
          <a:solidFill>
            <a:srgbClr val="FBF1E3"/>
          </a:solidFill>
          <a:ln w="9525">
            <a:solidFill>
              <a:srgbClr val="E8D5B0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3" name="Text 20"/>
          <p:cNvSpPr txBox="1"/>
          <p:nvPr/>
        </p:nvSpPr>
        <p:spPr>
          <a:xfrm>
            <a:off x="8028432" y="3017520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58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Bilinen sınırlar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028432" y="3310128"/>
            <a:ext cx="3127248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5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6B5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Kâr payı oranı 1.114 kaydın 179’unda: oran tabloları JavaScript ile yükleniyor, tarayıcı otomasyonlu ek tarama sürüyor.</a:t>
            </a:r>
            <a:endParaRPr lang="en-US" sz="1000" dirty="0"/>
          </a:p>
          <a:p>
            <a:pPr marL="342900" indent="-342900">
              <a:lnSpc>
                <a:spcPts val="135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6B5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Küçük bankalarda (T.O.M., Adil) kayıt sayısı düşük.</a:t>
            </a:r>
            <a:endParaRPr lang="en-US" sz="1000" dirty="0"/>
          </a:p>
          <a:p>
            <a:pPr marL="342900" indent="-342900">
              <a:lnSpc>
                <a:spcPts val="135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6B5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Sınıflandırma kural tabanlı; sınır durumlarda hata payı var.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ON-PREM VE AÇIK KAYNAK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786384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Banka verisi kurum dışına çıkmadan çalışır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560527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LINGUA-TECH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10314432" y="56052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777240" y="1463040"/>
            <a:ext cx="2542032" cy="1920240"/>
          </a:xfrm>
          <a:prstGeom prst="roundRect">
            <a:avLst>
              <a:gd name="adj" fmla="val 3333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8" name="Shape 5"/>
          <p:cNvSpPr/>
          <p:nvPr/>
        </p:nvSpPr>
        <p:spPr>
          <a:xfrm>
            <a:off x="996696" y="166420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1B3A66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9" name="Text 6"/>
          <p:cNvSpPr txBox="1"/>
          <p:nvPr/>
        </p:nvSpPr>
        <p:spPr>
          <a:xfrm>
            <a:off x="996696" y="1664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96696" y="219456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Qwen2.5 7B · Ollama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996696" y="263347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 dil modeli; ortam değişkeniyle model </a:t>
            </a:r>
            <a:r>
              <a:rPr lang="en-US" sz="950" dirty="0" err="1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değiştirilebilir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474720" y="1463040"/>
            <a:ext cx="2542032" cy="1920240"/>
          </a:xfrm>
          <a:prstGeom prst="roundRect">
            <a:avLst>
              <a:gd name="adj" fmla="val 3333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3" name="Shape 10"/>
          <p:cNvSpPr/>
          <p:nvPr/>
        </p:nvSpPr>
        <p:spPr>
          <a:xfrm>
            <a:off x="3694176" y="166420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1B3A66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4" name="Text 11"/>
          <p:cNvSpPr txBox="1"/>
          <p:nvPr/>
        </p:nvSpPr>
        <p:spPr>
          <a:xfrm>
            <a:off x="3694176" y="1664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694176" y="219456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bge-m3 · bge-reranker-v2-m3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694176" y="263347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 gömme ve yeniden sıralama; çok dilli, Türkçe destekli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72200" y="1463040"/>
            <a:ext cx="2542032" cy="1920240"/>
          </a:xfrm>
          <a:prstGeom prst="roundRect">
            <a:avLst>
              <a:gd name="adj" fmla="val 3333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8" name="Shape 15"/>
          <p:cNvSpPr/>
          <p:nvPr/>
        </p:nvSpPr>
        <p:spPr>
          <a:xfrm>
            <a:off x="6391656" y="166420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1B3A66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9" name="Text 16"/>
          <p:cNvSpPr txBox="1"/>
          <p:nvPr/>
        </p:nvSpPr>
        <p:spPr>
          <a:xfrm>
            <a:off x="6391656" y="1664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91656" y="219456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· Chroma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391656" y="263347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Yapılandırılmış tablo ve vektör dizini, tek dizinde taşınabilir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8869680" y="1463040"/>
            <a:ext cx="2542032" cy="1920240"/>
          </a:xfrm>
          <a:prstGeom prst="roundRect">
            <a:avLst>
              <a:gd name="adj" fmla="val 3333"/>
            </a:avLst>
          </a:prstGeom>
          <a:solidFill>
            <a:srgbClr val="EFF4F9"/>
          </a:solidFill>
          <a:ln w="9525">
            <a:solidFill>
              <a:srgbClr val="CBD8E6"/>
            </a:solidFill>
            <a:prstDash val="solid"/>
          </a:ln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3" name="Shape 20"/>
          <p:cNvSpPr/>
          <p:nvPr/>
        </p:nvSpPr>
        <p:spPr>
          <a:xfrm>
            <a:off x="9089136" y="166420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1B3A66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24" name="Text 21"/>
          <p:cNvSpPr txBox="1"/>
          <p:nvPr/>
        </p:nvSpPr>
        <p:spPr>
          <a:xfrm>
            <a:off x="9089136" y="1664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9089136" y="219456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9089136" y="263347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5C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uç noktaları (/sor, /panel/*) ile kurum sistemlerine entegrasyon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77240" y="3529584"/>
            <a:ext cx="2542032" cy="438912"/>
          </a:xfrm>
          <a:prstGeom prst="roundRect">
            <a:avLst>
              <a:gd name="adj" fmla="val 14583"/>
            </a:avLst>
          </a:prstGeom>
          <a:solidFill>
            <a:srgbClr val="1B3A66"/>
          </a:solidFill>
          <a:ln/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8" name="Text 25"/>
          <p:cNvSpPr txBox="1"/>
          <p:nvPr/>
        </p:nvSpPr>
        <p:spPr>
          <a:xfrm>
            <a:off x="868680" y="352958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İnternet bağlantısı gerekmez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474720" y="3529584"/>
            <a:ext cx="2542032" cy="438912"/>
          </a:xfrm>
          <a:prstGeom prst="roundRect">
            <a:avLst>
              <a:gd name="adj" fmla="val 14583"/>
            </a:avLst>
          </a:prstGeom>
          <a:solidFill>
            <a:srgbClr val="1B3A66"/>
          </a:solidFill>
          <a:ln/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30" name="Text 27"/>
          <p:cNvSpPr txBox="1"/>
          <p:nvPr/>
        </p:nvSpPr>
        <p:spPr>
          <a:xfrm>
            <a:off x="3566160" y="352958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verisi dışarı çıkmaz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172200" y="3529584"/>
            <a:ext cx="2542032" cy="438912"/>
          </a:xfrm>
          <a:prstGeom prst="roundRect">
            <a:avLst>
              <a:gd name="adj" fmla="val 14583"/>
            </a:avLst>
          </a:prstGeom>
          <a:solidFill>
            <a:srgbClr val="1B3A66"/>
          </a:solidFill>
          <a:ln/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32" name="Text 29"/>
          <p:cNvSpPr txBox="1"/>
          <p:nvPr/>
        </p:nvSpPr>
        <p:spPr>
          <a:xfrm>
            <a:off x="6263640" y="352958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 veya CPU modu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8869680" y="3529584"/>
            <a:ext cx="2542032" cy="438912"/>
          </a:xfrm>
          <a:prstGeom prst="roundRect">
            <a:avLst>
              <a:gd name="adj" fmla="val 14583"/>
            </a:avLst>
          </a:prstGeom>
          <a:solidFill>
            <a:srgbClr val="1B3A66"/>
          </a:solidFill>
          <a:ln/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34" name="Text 31"/>
          <p:cNvSpPr txBox="1"/>
          <p:nvPr/>
        </p:nvSpPr>
        <p:spPr>
          <a:xfrm>
            <a:off x="8961120" y="352958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komutla kurulum: kur.py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77240" y="4224528"/>
            <a:ext cx="10634472" cy="932688"/>
          </a:xfrm>
          <a:prstGeom prst="roundRect">
            <a:avLst>
              <a:gd name="adj" fmla="val 6863"/>
            </a:avLst>
          </a:prstGeom>
          <a:solidFill>
            <a:srgbClr val="E1EAF4"/>
          </a:solidFill>
          <a:ln/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36" name="Text 33"/>
          <p:cNvSpPr txBox="1"/>
          <p:nvPr/>
        </p:nvSpPr>
        <p:spPr>
          <a:xfrm>
            <a:off x="1051560" y="4334256"/>
            <a:ext cx="10085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Açık kaynak: tüm bileşenler Apache 2.0 / MIT lisanslı  ·  Proje Apache License 2.0 ile GitHub’da  ·  Etiket: #BilisimVadisi2026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645152"/>
            <a:ext cx="10085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31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github.com/AUGM-IEEE-IKU-LINGUATECH/YapayZekaDilAjanlari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786384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E2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Topla → Anlamlandır → Karşılaştır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560527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60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LINGUA-TECH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10314432" y="56052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5C7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777240" y="1463039"/>
            <a:ext cx="6720840" cy="3526221"/>
          </a:xfrm>
          <a:prstGeom prst="roundRect">
            <a:avLst>
              <a:gd name="adj" fmla="val 2448"/>
            </a:avLst>
          </a:prstGeom>
          <a:solidFill>
            <a:srgbClr val="1B3A66"/>
          </a:solidFill>
          <a:ln/>
          <a:effectLst>
            <a:outerShdw blurRad="127000" dist="25400" dir="5400000" algn="bl" rotWithShape="0">
              <a:srgbClr val="1B3A66">
                <a:alpha val="10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1" name="Text 8"/>
          <p:cNvSpPr txBox="1"/>
          <p:nvPr/>
        </p:nvSpPr>
        <p:spPr>
          <a:xfrm>
            <a:off x="7683062" y="1486160"/>
            <a:ext cx="3930869" cy="3503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E2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Lingua-Tech, katılım bankalarının dağınık kampanya metinlerini aranabilir, karşılaştırılabilir ve kurum içinde çalışabilir bir veri diline çevirir.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4989261"/>
            <a:ext cx="3639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3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Teşekkürler</a:t>
            </a:r>
            <a:endParaRPr lang="en-US" sz="2400" dirty="0"/>
          </a:p>
        </p:txBody>
      </p:sp>
      <p:pic>
        <p:nvPicPr>
          <p:cNvPr id="16" name="Adsız tasarım.mp4">
            <a:hlinkClick r:id="" action="ppaction://media"/>
            <a:extLst>
              <a:ext uri="{FF2B5EF4-FFF2-40B4-BE49-F238E27FC236}">
                <a16:creationId xmlns:a16="http://schemas.microsoft.com/office/drawing/2014/main" id="{AB089F0B-596F-CBEB-5069-BE35E5A4A07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77240" y="1463039"/>
            <a:ext cx="6905822" cy="38845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3467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1063</TotalTime>
  <Words>1382</Words>
  <Application>Microsoft Macintosh PowerPoint</Application>
  <PresentationFormat>Geniş ekran</PresentationFormat>
  <Paragraphs>252</Paragraphs>
  <Slides>13</Slides>
  <Notes>13</Notes>
  <HiddenSlides>0</HiddenSlides>
  <MMClips>1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Lingua-Tech — TEKNOFEST 2026 TYDA 2. Senaryo</dc:title>
  <dc:subject>PptxGenJS Presentation</dc:subject>
  <dc:creator>Lingua-Tech</dc:creator>
  <cp:lastModifiedBy>yigit varol</cp:lastModifiedBy>
  <cp:revision>4</cp:revision>
  <dcterms:created xsi:type="dcterms:W3CDTF">2026-08-27T13:35:37Z</dcterms:created>
  <dcterms:modified xsi:type="dcterms:W3CDTF">2026-08-28T07:20:42Z</dcterms:modified>
</cp:coreProperties>
</file>