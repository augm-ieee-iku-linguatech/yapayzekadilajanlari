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Kayıt</c:v>
                </c:pt>
              </c:strCache>
            </c:strRef>
          </c:tx>
          <c:spPr>
            <a:solidFill>
              <a:srgbClr val="2E56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C7590"/>
                    </a:solidFill>
                    <a:latin typeface="Calibri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Adil Katılım</c:v>
                </c:pt>
                <c:pt idx="1">
                  <c:v>T.O.M. Katılım</c:v>
                </c:pt>
                <c:pt idx="2">
                  <c:v>Hayat Finans</c:v>
                </c:pt>
                <c:pt idx="3">
                  <c:v>Vakıf Katılım</c:v>
                </c:pt>
                <c:pt idx="4">
                  <c:v>Türkiye Finans</c:v>
                </c:pt>
                <c:pt idx="5">
                  <c:v>Dünya Katılım</c:v>
                </c:pt>
                <c:pt idx="6">
                  <c:v>Emlak Katılım</c:v>
                </c:pt>
                <c:pt idx="7">
                  <c:v>Albaraka Türk</c:v>
                </c:pt>
                <c:pt idx="8">
                  <c:v>Kuveyt Türk</c:v>
                </c:pt>
                <c:pt idx="9">
                  <c:v>Ziraat Katılım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9</c:v>
                </c:pt>
                <c:pt idx="2">
                  <c:v>39</c:v>
                </c:pt>
                <c:pt idx="3">
                  <c:v>49</c:v>
                </c:pt>
                <c:pt idx="4">
                  <c:v>58</c:v>
                </c:pt>
                <c:pt idx="5">
                  <c:v>76</c:v>
                </c:pt>
                <c:pt idx="6">
                  <c:v>90</c:v>
                </c:pt>
                <c:pt idx="7">
                  <c:v>156</c:v>
                </c:pt>
                <c:pt idx="8">
                  <c:v>253</c:v>
                </c:pt>
                <c:pt idx="9">
                  <c:v>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31-9C4F-B0E6-42D8F1E2E5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3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3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792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8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 IEEE İKÜ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874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50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8346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Katılım Bankacılığı Finansal Metin Madenciliği, Bilgi Çıkarımı ve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Dashboard–Asistan Çözümü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3803904"/>
            <a:ext cx="1371600" cy="32004"/>
          </a:xfrm>
          <a:prstGeom prst="rect">
            <a:avLst/>
          </a:prstGeom>
          <a:solidFill>
            <a:srgbClr val="D3141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777240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TEKNOFEST 2026  ·  Yapay Zeka Dil Ajanları Yarışması  ·  2. Senaryo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334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Ağustos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4773168"/>
            <a:ext cx="2514600" cy="384048"/>
          </a:xfrm>
          <a:prstGeom prst="roundRect">
            <a:avLst>
              <a:gd name="adj" fmla="val 16667"/>
            </a:avLst>
          </a:prstGeom>
          <a:solidFill>
            <a:srgbClr val="E1EAF4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77240" y="4773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#BilisimVadisi2026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Takım ve görev dağılımı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63040"/>
            <a:ext cx="10634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üye, sistemin dört katmanında ayrı sorumluluk taşıyor.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084832"/>
            <a:ext cx="2542032" cy="2084832"/>
          </a:xfrm>
          <a:prstGeom prst="roundRect">
            <a:avLst>
              <a:gd name="adj" fmla="val 3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1664208" y="2331720"/>
            <a:ext cx="768096" cy="768096"/>
          </a:xfrm>
          <a:prstGeom prst="ellipse">
            <a:avLst/>
          </a:prstGeom>
          <a:solidFill>
            <a:srgbClr val="D3141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1664208" y="2331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YV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23544" y="32461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Yiğit Varol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23544" y="354787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Takım Kaptanı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LLM ve değerlendirme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2084832"/>
            <a:ext cx="2542032" cy="2084832"/>
          </a:xfrm>
          <a:prstGeom prst="roundRect">
            <a:avLst>
              <a:gd name="adj" fmla="val 3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4361688" y="2331720"/>
            <a:ext cx="768096" cy="768096"/>
          </a:xfrm>
          <a:prstGeom prst="ellipse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 txBox="1"/>
          <p:nvPr/>
        </p:nvSpPr>
        <p:spPr>
          <a:xfrm>
            <a:off x="4361688" y="2331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21024" y="32461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Yiğitcan Bayık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621024" y="354787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çıkarımı ve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normalizasyon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72200" y="2084832"/>
            <a:ext cx="2542032" cy="2084832"/>
          </a:xfrm>
          <a:prstGeom prst="roundRect">
            <a:avLst>
              <a:gd name="adj" fmla="val 3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7059168" y="2331720"/>
            <a:ext cx="768096" cy="768096"/>
          </a:xfrm>
          <a:prstGeom prst="ellipse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 txBox="1"/>
          <p:nvPr/>
        </p:nvSpPr>
        <p:spPr>
          <a:xfrm>
            <a:off x="7059168" y="2331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18504" y="32461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Kağan Kutanoğlu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318504" y="354787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 ve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işleme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869680" y="2084832"/>
            <a:ext cx="2542032" cy="2084832"/>
          </a:xfrm>
          <a:prstGeom prst="roundRect">
            <a:avLst>
              <a:gd name="adj" fmla="val 3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1"/>
          <p:cNvSpPr/>
          <p:nvPr/>
        </p:nvSpPr>
        <p:spPr>
          <a:xfrm>
            <a:off x="9756648" y="2331720"/>
            <a:ext cx="768096" cy="768096"/>
          </a:xfrm>
          <a:prstGeom prst="ellipse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 txBox="1"/>
          <p:nvPr/>
        </p:nvSpPr>
        <p:spPr>
          <a:xfrm>
            <a:off x="9756648" y="2331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CÇ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015984" y="32461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 Çalışkan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9015984" y="354787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dashboard ve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bilgi, her bankada başka bir dille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63040"/>
            <a:ext cx="10634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payı, vade, masraf ve kampanya koşulları doğal dilde ve standart olmayan biçimlerde yayımlanıyor. Bankalar arası karşılaştırma bu yüzden manuel, yavaş ve hataya açık.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029968"/>
            <a:ext cx="2542032" cy="2084832"/>
          </a:xfrm>
          <a:prstGeom prst="roundRect">
            <a:avLst>
              <a:gd name="adj" fmla="val 3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978408" y="219456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KUVEYT TÜRK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78408" y="2487168"/>
            <a:ext cx="2139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“Aylık %2,99 kâr oranı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 ay)”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78408" y="3493008"/>
            <a:ext cx="2139696" cy="12802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978408" y="360273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 açık, vade parantezde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74720" y="2029968"/>
            <a:ext cx="2542032" cy="2084832"/>
          </a:xfrm>
          <a:prstGeom prst="roundRect">
            <a:avLst>
              <a:gd name="adj" fmla="val 3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3675888" y="219456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ALBARAKA TÜRK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675888" y="2487168"/>
            <a:ext cx="2139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“Aylık %3,04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(Yıllık %53,91 maliyet)”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75888" y="3493008"/>
            <a:ext cx="2139696" cy="12802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 txBox="1"/>
          <p:nvPr/>
        </p:nvSpPr>
        <p:spPr>
          <a:xfrm>
            <a:off x="3675888" y="360273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ve yıllık iki farklı sayı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72200" y="2029968"/>
            <a:ext cx="2542032" cy="2084832"/>
          </a:xfrm>
          <a:prstGeom prst="roundRect">
            <a:avLst>
              <a:gd name="adj" fmla="val 3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6373368" y="219456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ALBARAKA TÜRK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373368" y="2487168"/>
            <a:ext cx="2139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“…vade farksız veya özel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oranlı Pratik Finansman…”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73368" y="3493008"/>
            <a:ext cx="2139696" cy="12802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 txBox="1"/>
          <p:nvPr/>
        </p:nvSpPr>
        <p:spPr>
          <a:xfrm>
            <a:off x="6373368" y="360273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 hiç yazılmıyor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69680" y="2029968"/>
            <a:ext cx="2542032" cy="2084832"/>
          </a:xfrm>
          <a:prstGeom prst="roundRect">
            <a:avLst>
              <a:gd name="adj" fmla="val 3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 txBox="1"/>
          <p:nvPr/>
        </p:nvSpPr>
        <p:spPr>
          <a:xfrm>
            <a:off x="9070848" y="219456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KUVEYT TÜRK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070848" y="2487168"/>
            <a:ext cx="2139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“…dosya masrafı olmadan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veya düşük kâr oranları…”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070848" y="3493008"/>
            <a:ext cx="2139696" cy="12802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 txBox="1"/>
          <p:nvPr/>
        </p:nvSpPr>
        <p:spPr>
          <a:xfrm>
            <a:off x="9070848" y="360273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 nitel ifadeyle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77240" y="4389120"/>
            <a:ext cx="10634472" cy="749808"/>
          </a:xfrm>
          <a:prstGeom prst="roundRect">
            <a:avLst>
              <a:gd name="adj" fmla="val 8537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6"/>
          <p:cNvSpPr txBox="1"/>
          <p:nvPr/>
        </p:nvSpPr>
        <p:spPr>
          <a:xfrm>
            <a:off x="1051560" y="4389120"/>
            <a:ext cx="10085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 </a:t>
            </a:r>
            <a:r>
              <a:rPr lang="en-US" sz="1200" dirty="0">
                <a:solidFill>
                  <a:srgbClr val="E2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kampanya metnini tek bir karşılaştırılabilir veri diline çevirmek — ve bunu kurum içinde, dışarı veri çıkarmadan yapmak.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VERİ SETİ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faal katılım bankasının resmî kaynakları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51790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1627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katılım bankası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2157984"/>
            <a:ext cx="4069080" cy="10973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77240" y="23042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1.114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24140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ve kampanya kaydı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2944368"/>
            <a:ext cx="4069080" cy="10973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777240" y="309067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949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→ 2.893 metin parçası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7240" y="3730752"/>
            <a:ext cx="4069080" cy="10973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777240" y="38770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468880" y="39867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URL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57800" y="1463040"/>
            <a:ext cx="6153912" cy="3017520"/>
          </a:xfrm>
          <a:prstGeom prst="roundRect">
            <a:avLst>
              <a:gd name="adj" fmla="val 2121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5468112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Banka başına kayıt sayısı</a:t>
            </a:r>
            <a:endParaRPr lang="en-US" sz="10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13248" y="1847088"/>
          <a:ext cx="5833872" cy="2505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77240" y="4626864"/>
            <a:ext cx="10634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Toplama: Python + Playwright ile bankaların resmî web siteleri (ürün, kampanya, oran sayfaları) tarandı; JavaScript ile yüklenen oran tabloları için tarayıcı otomasyonu </a:t>
            </a:r>
            <a:r>
              <a:rPr lang="en-US" sz="100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kullanıldı</a:t>
            </a: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SİSTEM MİMARİSİ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web metninden iki cevap motoruna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63040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VERİ HAZIRLAMA · bir kez çalışır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77240" y="1719072"/>
            <a:ext cx="2551176" cy="841248"/>
          </a:xfrm>
          <a:prstGeom prst="roundRect">
            <a:avLst>
              <a:gd name="adj" fmla="val 7609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923544" y="182880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Banka web siteleri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23544" y="208483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banka, resmî sayfalar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81172" y="1993392"/>
            <a:ext cx="237744" cy="182880"/>
          </a:xfrm>
          <a:prstGeom prst="rightArrow">
            <a:avLst/>
          </a:prstGeom>
          <a:solidFill>
            <a:srgbClr val="3B7FC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3471672" y="1719072"/>
            <a:ext cx="2551176" cy="841248"/>
          </a:xfrm>
          <a:prstGeom prst="roundRect">
            <a:avLst>
              <a:gd name="adj" fmla="val 7609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3617976" y="182880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çekme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617976" y="208483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Playwright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75604" y="1993392"/>
            <a:ext cx="237744" cy="182880"/>
          </a:xfrm>
          <a:prstGeom prst="rightArrow">
            <a:avLst/>
          </a:prstGeom>
          <a:solidFill>
            <a:srgbClr val="3B7FC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6166104" y="1719072"/>
            <a:ext cx="2551176" cy="841248"/>
          </a:xfrm>
          <a:prstGeom prst="roundRect">
            <a:avLst>
              <a:gd name="adj" fmla="val 7609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 txBox="1"/>
          <p:nvPr/>
        </p:nvSpPr>
        <p:spPr>
          <a:xfrm>
            <a:off x="6312408" y="182880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 işleme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12408" y="208483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temizleme, tekrar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birleştirme, chunk’lama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670036" y="1993392"/>
            <a:ext cx="237744" cy="182880"/>
          </a:xfrm>
          <a:prstGeom prst="rightArrow">
            <a:avLst/>
          </a:prstGeom>
          <a:solidFill>
            <a:srgbClr val="3B7FC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8860536" y="1719072"/>
            <a:ext cx="2551176" cy="841248"/>
          </a:xfrm>
          <a:prstGeom prst="roundRect">
            <a:avLst>
              <a:gd name="adj" fmla="val 7609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 txBox="1"/>
          <p:nvPr/>
        </p:nvSpPr>
        <p:spPr>
          <a:xfrm>
            <a:off x="9006840" y="182880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Bilgi çıkarımı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208483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normalizasyon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sütunlu şema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77240" y="2706624"/>
            <a:ext cx="5161788" cy="731520"/>
          </a:xfrm>
          <a:prstGeom prst="roundRect">
            <a:avLst>
              <a:gd name="adj" fmla="val 8750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 txBox="1"/>
          <p:nvPr/>
        </p:nvSpPr>
        <p:spPr>
          <a:xfrm>
            <a:off x="923544" y="2816352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yapılandırılmış tablo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23544" y="3072384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1.114 kayıt, 39 alan — sayısal sorular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49924" y="2706624"/>
            <a:ext cx="5161788" cy="731520"/>
          </a:xfrm>
          <a:prstGeom prst="roundRect">
            <a:avLst>
              <a:gd name="adj" fmla="val 8750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 txBox="1"/>
          <p:nvPr/>
        </p:nvSpPr>
        <p:spPr>
          <a:xfrm>
            <a:off x="6396228" y="2816352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 · vektör dizini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396228" y="3072384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gömme, 2.893 parça — anlamsal sorular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3602736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CEVAP ÜRETİMİ · her soruda çalışır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77240" y="3858768"/>
            <a:ext cx="2212848" cy="786384"/>
          </a:xfrm>
          <a:prstGeom prst="roundRect">
            <a:avLst>
              <a:gd name="adj" fmla="val 814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 txBox="1"/>
          <p:nvPr/>
        </p:nvSpPr>
        <p:spPr>
          <a:xfrm>
            <a:off x="923544" y="3968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 → yönlendirme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23544" y="4224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tabanlı, LLM’e bırakılmaz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081528" y="4133088"/>
            <a:ext cx="237744" cy="182880"/>
          </a:xfrm>
          <a:prstGeom prst="rightArrow">
            <a:avLst/>
          </a:prstGeom>
          <a:solidFill>
            <a:srgbClr val="3B7FC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Shape 31"/>
          <p:cNvSpPr/>
          <p:nvPr/>
        </p:nvSpPr>
        <p:spPr>
          <a:xfrm>
            <a:off x="3410712" y="3858768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Text 32"/>
          <p:cNvSpPr txBox="1"/>
          <p:nvPr/>
        </p:nvSpPr>
        <p:spPr>
          <a:xfrm>
            <a:off x="3557016" y="3968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motoru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3557016" y="4224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sayma · sıralama ·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989320" y="3858768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Text 35"/>
          <p:cNvSpPr txBox="1"/>
          <p:nvPr/>
        </p:nvSpPr>
        <p:spPr>
          <a:xfrm>
            <a:off x="6135624" y="3968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motoru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135624" y="4224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 arama + reranker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kaynaklı cevap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476488" y="4133088"/>
            <a:ext cx="237744" cy="182880"/>
          </a:xfrm>
          <a:prstGeom prst="rightArrow">
            <a:avLst/>
          </a:prstGeom>
          <a:solidFill>
            <a:srgbClr val="3B7FC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Shape 38"/>
          <p:cNvSpPr/>
          <p:nvPr/>
        </p:nvSpPr>
        <p:spPr>
          <a:xfrm>
            <a:off x="8714232" y="3858768"/>
            <a:ext cx="2697480" cy="786384"/>
          </a:xfrm>
          <a:prstGeom prst="roundRect">
            <a:avLst>
              <a:gd name="adj" fmla="val 814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Text 39"/>
          <p:cNvSpPr txBox="1"/>
          <p:nvPr/>
        </p:nvSpPr>
        <p:spPr>
          <a:xfrm>
            <a:off x="8860536" y="396849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7B → FastAPI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860536" y="422452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chatbot,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linkleriyle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777240" y="4791456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Yönlendirme kural tabanlıdır: aynı soru her zaman aynı yola gider, test edilebilir. Tüm bileşenler kurum içi sunucuda çalışır.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BİLGİ ÇIKARIMI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Metinden şartnamenin dört sütunlu şemasına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" y="1463040"/>
            <a:ext cx="4846320" cy="3017520"/>
          </a:xfrm>
          <a:prstGeom prst="roundRect">
            <a:avLst>
              <a:gd name="adj" fmla="val 2121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1014984" y="164592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GİRDİ · KAMPANYA METNİ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14984" y="1975104"/>
            <a:ext cx="43708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50" i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“Ağustos Ayına Özel Fatura Kampanyası — Kampanya Başlangıç ve Bitiş 01.08.2026 - 31.08.2026. ‘OFT2026’ koduyla müşterimiz olun, Albaraka World kredi kartınızla Albaraka Mobil üzerinden vereceğiniz her otomatik fatura ödeme talimatı için 500 TL, toplamda 2.000 TL Worldpuan kazanın!”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14984" y="400507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Albaraka Türk · kampanya sayfası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97880" y="2816352"/>
            <a:ext cx="402336" cy="310896"/>
          </a:xfrm>
          <a:prstGeom prst="rightArrow">
            <a:avLst/>
          </a:prstGeom>
          <a:solidFill>
            <a:srgbClr val="D3141C"/>
          </a:solidFill>
          <a:ln/>
        </p:spPr>
        <p:txBody>
          <a:bodyPr/>
          <a:lstStyle/>
          <a:p>
            <a:endParaRPr lang="tr-T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4828032" cy="2688336"/>
        </p:xfrm>
        <a:graphic>
          <a:graphicData uri="http://schemas.openxmlformats.org/drawingml/2006/table">
            <a:tbl>
              <a:tblPr/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2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Banka Bilgisi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Albaraka Türk Katılım Bankası A.Ş.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2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Finansman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2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Bilgileri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 kampanyası — finansman alanı yok. Doğrulanmayan alanın satırı cevap bağlamına hiç yazılmaz.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2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2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Bilgileri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Tür: Kart Kampanyası · Ödül: 500 TL / talimat, toplam 2.000 TL Worldpuan · Süre: 2026-08-01 → 2026-08-31 · Koşul: OFT2026 davet kodu, otomatik fatura talimatı · Durum: aktif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2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Kitle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müşterilere özel (yeni_musteri = 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77240" y="4626864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Şema: Banka · Finansman (kâr payı, tutar, vade, taksit, tahsis ücreti, masraf) · Kampanya (tür, ödül, indirim, puan, süre, koşul) · Hedef kitle (yeni / mevcut / maaş / KOBİ).  Doğrulanamayan alan hiç yazılmaz — ne uydurma değer ne “Belirtilmemiş” etiketi; ölçümle belirlendi. Dolaylı ifadeler (“özel oranlı”, “avantajlı kâr payı”) ayrı </a:t>
            </a:r>
            <a:r>
              <a:rPr lang="en-US" sz="100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alanda</a:t>
            </a: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etiketlenir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NORMALİZASYON VE TERMİNOLOJİ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Farklı yazım biçimleri tek standarda iner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" y="1463040"/>
            <a:ext cx="3361944" cy="1755648"/>
          </a:xfrm>
          <a:prstGeom prst="roundRect">
            <a:avLst>
              <a:gd name="adj" fmla="val 3646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978408" y="1609344"/>
            <a:ext cx="2959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78408" y="1920240"/>
            <a:ext cx="295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%2,05   ·   % 2.05   ·   2.05 %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78408" y="2487168"/>
            <a:ext cx="2959608" cy="12802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978408" y="2596896"/>
            <a:ext cx="295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2.05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3504" y="1463040"/>
            <a:ext cx="3361944" cy="1755648"/>
          </a:xfrm>
          <a:prstGeom prst="roundRect">
            <a:avLst>
              <a:gd name="adj" fmla="val 3646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4614672" y="1609344"/>
            <a:ext cx="2959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Tutar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14672" y="1920240"/>
            <a:ext cx="295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TL · 500₺ · 500 Türk Lirası · 1,5 milyon TL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14672" y="2487168"/>
            <a:ext cx="2959608" cy="12802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4614672" y="2596896"/>
            <a:ext cx="295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 ·  1.500.000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49768" y="1463040"/>
            <a:ext cx="3361944" cy="1755648"/>
          </a:xfrm>
          <a:prstGeom prst="roundRect">
            <a:avLst>
              <a:gd name="adj" fmla="val 3646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 txBox="1"/>
          <p:nvPr/>
        </p:nvSpPr>
        <p:spPr>
          <a:xfrm>
            <a:off x="8250936" y="1609344"/>
            <a:ext cx="2959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Tarih ve durum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250936" y="1920240"/>
            <a:ext cx="295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Aralık 2026 · 31.12.2026 · 31/12/2026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50936" y="2487168"/>
            <a:ext cx="2959608" cy="12802"/>
          </a:xfrm>
          <a:prstGeom prst="rect">
            <a:avLst/>
          </a:prstGeom>
          <a:solidFill>
            <a:srgbClr val="CBD8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 txBox="1"/>
          <p:nvPr/>
        </p:nvSpPr>
        <p:spPr>
          <a:xfrm>
            <a:off x="8250936" y="2596896"/>
            <a:ext cx="295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2026-12-31 → aktif / süresi dolmuş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7240" y="3401568"/>
            <a:ext cx="5180076" cy="1700784"/>
          </a:xfrm>
          <a:prstGeom prst="roundRect">
            <a:avLst>
              <a:gd name="adj" fmla="val 3763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 txBox="1"/>
          <p:nvPr/>
        </p:nvSpPr>
        <p:spPr>
          <a:xfrm>
            <a:off x="1014984" y="3547872"/>
            <a:ext cx="4704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Katılım bankacılığı terminolojisi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014984" y="3840480"/>
            <a:ext cx="47045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 → kâr payı   ·   kredi → finansman   ·   mevduat → katılma hesabı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karakter katlama: “kuveytturk” = “Kuveyt Türk”; kısaltmalar (kt, zk, tf) tanınır.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31636" y="3401568"/>
            <a:ext cx="5180076" cy="1700784"/>
          </a:xfrm>
          <a:prstGeom prst="roundRect">
            <a:avLst>
              <a:gd name="adj" fmla="val 376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 txBox="1"/>
          <p:nvPr/>
        </p:nvSpPr>
        <p:spPr>
          <a:xfrm>
            <a:off x="6469380" y="3547872"/>
            <a:ext cx="4704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Kampanya </a:t>
            </a:r>
            <a:r>
              <a:rPr lang="en-US" sz="1150" b="1" dirty="0" err="1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türü</a:t>
            </a:r>
            <a:r>
              <a:rPr lang="en-US" sz="115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b="1" dirty="0" err="1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sınıflandırması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69380" y="3840480"/>
            <a:ext cx="47045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Finansman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Kart  · Alışveriş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Puanı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Taşıt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Yeni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Konut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Yatırım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</a:t>
            </a:r>
            <a:endParaRPr lang="en-US" sz="1050" dirty="0"/>
          </a:p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tabanlı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üzerinden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ayrıca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segment (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bireysel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tarım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geçerlilik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etiketi</a:t>
            </a:r>
            <a:r>
              <a:rPr lang="en-US" sz="10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HİBRİT CEVAP MOTORU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Sayısal sorular SQL’e, açıklama soruları RAG’a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" y="1463040"/>
            <a:ext cx="5161788" cy="3218688"/>
          </a:xfrm>
          <a:prstGeom prst="roundRect">
            <a:avLst>
              <a:gd name="adj" fmla="val 1989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1051560" y="1645920"/>
            <a:ext cx="4613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yolu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975104"/>
            <a:ext cx="46131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F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 uzun vadeli konut finansmanı hangi bankada?”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51560" y="2395728"/>
            <a:ext cx="4613148" cy="12802"/>
          </a:xfrm>
          <a:prstGeom prst="rect">
            <a:avLst/>
          </a:prstGeom>
          <a:solidFill>
            <a:srgbClr val="3A5C8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1051560" y="2542032"/>
            <a:ext cx="46131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çıkarımı: banka, ürün, metrik, aktiflik, yön (en yüksek / en düşük), harcama eşiği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şablon (sıralama, sayma, karşılaştırma, üç eşik sorgusu) — serbest SQL üretilmez, enjeksiyon yok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1.114 kaydın tamamına bakar; sayar, sıralar, karşılaştırır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şartname şemasında LLM’e verilir, akıcı Türkçeye çevrilir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49924" y="1463040"/>
            <a:ext cx="5161788" cy="3218688"/>
          </a:xfrm>
          <a:prstGeom prst="roundRect">
            <a:avLst>
              <a:gd name="adj" fmla="val 1989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6524244" y="1645920"/>
            <a:ext cx="4613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yolu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524244" y="1975104"/>
            <a:ext cx="46131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F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“Ziraat Katılım’ın market kampanyasından kimler yararlanabilir, koşulları ne?”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24244" y="2395728"/>
            <a:ext cx="4613148" cy="12802"/>
          </a:xfrm>
          <a:prstGeom prst="rect">
            <a:avLst/>
          </a:prstGeom>
          <a:solidFill>
            <a:srgbClr val="3A5C8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6524244" y="2542032"/>
            <a:ext cx="46131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filtresi (banka, geçerlilik) → bge-m3 vektör arama (12 aday) + IDF sözcüksel yedek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bge-reranker-v2-m3 ile yeniden sıralama → LLM’e 8 parça, belge başına en fazla 2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katmanlı göreli eşik (vektör + reranker): korpusta yoksa “bilgi yok” der, kaynak listesi de boş döner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 kaynak URL’leriyle birlikte döner; süresi dolmuş kampanya etiketlenir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828032"/>
            <a:ext cx="10634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Yönlendirme deterministik ve kural tabanlı; sohbet geçmişi (“peki Albaraka’da?”) slot düzeyinde taşınır. Banka unvanları gösterim adına indirgenir: “Ziraat Katılım Bankası A.Ş.” → “Ziraat Katılım”.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KARŞILAŞTIRMA ÇIKTISI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bankanın konut finansmanı, tek tabloda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10634472" cy="15727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Kâr payı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(aylık)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Azami tutar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Masraf durumu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Türkiye Finans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Konutunu Alan Konut Finansmanı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%2,88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20.000.000 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Ekspertiz ve ipotek tesis ücreti, sigorta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31.12.2026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Ziraat Katılım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Konut Finansmanı Kampanya Paketi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%2,89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20.000.000 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Ekspertiz, ipotek tesis ve tahsis ücreti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31.12.2026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Kuveyt Türk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Konut Finansmanı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%2,99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20.000.000 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Ekspertiz (asgari 23.203 TL), ipotek tesis ücreti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31.12.2026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77240" y="3310128"/>
            <a:ext cx="6720840" cy="1572768"/>
          </a:xfrm>
          <a:prstGeom prst="roundRect">
            <a:avLst>
              <a:gd name="adj" fmla="val 4070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 txBox="1"/>
          <p:nvPr/>
        </p:nvSpPr>
        <p:spPr>
          <a:xfrm>
            <a:off x="1014984" y="3456432"/>
            <a:ext cx="6245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Asistan cevabı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3730752"/>
            <a:ext cx="6245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payı açısından Türkiye Finans öne çıkıyor (%2,88); Ziraat Katılım %2,89 ile çok yakın. Vade açısından üç banka da 120 aya kadar imkân sunuyor. Masraf açısından Kuveyt Türk’te ekspertiz alt sınırı (23.203 TL) belirtilmiş; diğerlerinde tutar verilmemiş.</a:t>
            </a:r>
            <a:endParaRPr lang="en-US" sz="1050" dirty="0"/>
          </a:p>
        </p:txBody>
      </p:sp>
      <p:sp>
        <p:nvSpPr>
          <p:cNvPr id="7" name="Shape 7"/>
          <p:cNvSpPr/>
          <p:nvPr/>
        </p:nvSpPr>
        <p:spPr>
          <a:xfrm>
            <a:off x="7772400" y="3310128"/>
            <a:ext cx="3639312" cy="1572768"/>
          </a:xfrm>
          <a:prstGeom prst="roundRect">
            <a:avLst>
              <a:gd name="adj" fmla="val 4070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8"/>
          <p:cNvSpPr txBox="1"/>
          <p:nvPr/>
        </p:nvSpPr>
        <p:spPr>
          <a:xfrm>
            <a:off x="8010144" y="34564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C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010144" y="3730752"/>
            <a:ext cx="31638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tipine göre karşılaştırma tablosu ve vade grafiği · banka / durum / tür filtreli kampanya listesi · en düşük kâr payı, en uzun vade, en düşük masraf sıralamaları.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DEĞERLENDİRME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Deterministik test kiti ile ölçülen başarı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" y="1463040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996696" y="15910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96696" y="208483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sorusu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 iç + 94 bağımsız)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74720" y="1463040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3694176" y="15910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0,875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3694176" y="208483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puan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(0,748’den başladı)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391656" y="15910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391656" y="208483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doğruluğu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(tutar, taksit, vade)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869680" y="1463040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 txBox="1"/>
          <p:nvPr/>
        </p:nvSpPr>
        <p:spPr>
          <a:xfrm>
            <a:off x="9089136" y="15910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5,75 sn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089136" y="208483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başına süre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(RTX 3070 Ti)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77240" y="2871216"/>
            <a:ext cx="6720840" cy="2212848"/>
          </a:xfrm>
          <a:prstGeom prst="roundRect">
            <a:avLst>
              <a:gd name="adj" fmla="val 289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 txBox="1"/>
          <p:nvPr/>
        </p:nvSpPr>
        <p:spPr>
          <a:xfrm>
            <a:off x="1033272" y="3017520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ölçülüyor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33272" y="3310128"/>
            <a:ext cx="620877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hakem yok: anahtar kapsamı, banka isabeti, sayısal doğruluk, kaynak gösterimi, dayanaksız sayı (halüsinasyon) metrikleri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Tuzak grupları: halüsinasyon (12 soru), süresi dolmuş kampanya, yatırım tavsiyesi, olmayan banka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Dayanıklılık: Türkçe karaktersiz yazım, eş anlamlı, kısa sorgu, ifade varyantları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3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LLM’siz SQL regresyon zinciri her değişikliği 138 soruda diff’ler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72400" y="2871216"/>
            <a:ext cx="3639312" cy="2212848"/>
          </a:xfrm>
          <a:prstGeom prst="roundRect">
            <a:avLst>
              <a:gd name="adj" fmla="val 2893"/>
            </a:avLst>
          </a:prstGeom>
          <a:solidFill>
            <a:srgbClr val="FBF1E3"/>
          </a:solidFill>
          <a:ln w="9525">
            <a:solidFill>
              <a:srgbClr val="E8D5B0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 txBox="1"/>
          <p:nvPr/>
        </p:nvSpPr>
        <p:spPr>
          <a:xfrm>
            <a:off x="8028432" y="30175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Bilinen sınırlar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028432" y="3310128"/>
            <a:ext cx="31272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payı oranı 1.114 kaydın 179’unda: oran tabloları JavaScript ile yükleniyor, tarayıcı otomasyonlu ek tarama sürüyor.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bankalarda (T.O.M., Adil) kayıt sayısı düşük.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kural tabanlı; sınır durumlarda hata payı var.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VE AÇIK KAYNAK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Banka verisi kurum dışına çıkmadan çalışır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" y="146304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996696" y="166420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6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996696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96696" y="21945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7B · Ollama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96696" y="2633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dil modeli; ortam değişkeniyle model </a:t>
            </a:r>
            <a:r>
              <a:rPr lang="en-US" sz="950" dirty="0" err="1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değiştirilebilir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3694176" y="166420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6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3694176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694176" y="21945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 · bge-reranker-v2-m3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694176" y="2633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gömme ve yeniden sıralama; çok dilli, Türkçe destekli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146304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6391656" y="166420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6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6391656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21945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Chroma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391656" y="2633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Yapılandırılmış tablo ve vektör dizini, tek dizinde taşınabilir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869680" y="146304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EFF4F9"/>
          </a:solidFill>
          <a:ln w="9525">
            <a:solidFill>
              <a:srgbClr val="CBD8E6"/>
            </a:solidFill>
            <a:prstDash val="solid"/>
          </a:ln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0"/>
          <p:cNvSpPr/>
          <p:nvPr/>
        </p:nvSpPr>
        <p:spPr>
          <a:xfrm>
            <a:off x="9089136" y="166420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6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 txBox="1"/>
          <p:nvPr/>
        </p:nvSpPr>
        <p:spPr>
          <a:xfrm>
            <a:off x="9089136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089136" y="21945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089136" y="2633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C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uç noktaları (/sor, /panel/*) ile kurum sistemlerine entegrasyon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77240" y="3529584"/>
            <a:ext cx="2542032" cy="438912"/>
          </a:xfrm>
          <a:prstGeom prst="roundRect">
            <a:avLst>
              <a:gd name="adj" fmla="val 14583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5"/>
          <p:cNvSpPr txBox="1"/>
          <p:nvPr/>
        </p:nvSpPr>
        <p:spPr>
          <a:xfrm>
            <a:off x="868680" y="35295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bağlantısı gerekmez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74720" y="3529584"/>
            <a:ext cx="2542032" cy="438912"/>
          </a:xfrm>
          <a:prstGeom prst="roundRect">
            <a:avLst>
              <a:gd name="adj" fmla="val 14583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Text 27"/>
          <p:cNvSpPr txBox="1"/>
          <p:nvPr/>
        </p:nvSpPr>
        <p:spPr>
          <a:xfrm>
            <a:off x="3566160" y="35295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verisi dışarı çıkmaz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72200" y="3529584"/>
            <a:ext cx="2542032" cy="438912"/>
          </a:xfrm>
          <a:prstGeom prst="roundRect">
            <a:avLst>
              <a:gd name="adj" fmla="val 14583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29"/>
          <p:cNvSpPr txBox="1"/>
          <p:nvPr/>
        </p:nvSpPr>
        <p:spPr>
          <a:xfrm>
            <a:off x="6263640" y="35295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 veya CPU modu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869680" y="3529584"/>
            <a:ext cx="2542032" cy="438912"/>
          </a:xfrm>
          <a:prstGeom prst="roundRect">
            <a:avLst>
              <a:gd name="adj" fmla="val 14583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 txBox="1"/>
          <p:nvPr/>
        </p:nvSpPr>
        <p:spPr>
          <a:xfrm>
            <a:off x="8961120" y="35295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komutla kurulum: kur.py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7240" y="4224528"/>
            <a:ext cx="10634472" cy="932688"/>
          </a:xfrm>
          <a:prstGeom prst="roundRect">
            <a:avLst>
              <a:gd name="adj" fmla="val 6863"/>
            </a:avLst>
          </a:prstGeom>
          <a:solidFill>
            <a:srgbClr val="E1EAF4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 txBox="1"/>
          <p:nvPr/>
        </p:nvSpPr>
        <p:spPr>
          <a:xfrm>
            <a:off x="1051560" y="4334256"/>
            <a:ext cx="10085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kaynak: tüm bileşenler Apache 2.0 / MIT lisanslı  ·  Proje Apache License 2.0 ile GitHub’da  ·  Etiket: #BilisimVadisi2026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645152"/>
            <a:ext cx="10085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github.com/AUGM-IEEE-IKU-LINGUATECH/YapayZekaDilAjanlari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993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78638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 → Anlamlandır → Karşılaştır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5605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LINGUA-TECH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314432" y="5605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C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" y="1463039"/>
            <a:ext cx="6720840" cy="3526221"/>
          </a:xfrm>
          <a:prstGeom prst="roundRect">
            <a:avLst>
              <a:gd name="adj" fmla="val 2448"/>
            </a:avLst>
          </a:prstGeom>
          <a:solidFill>
            <a:srgbClr val="1B3A66"/>
          </a:solidFill>
          <a:ln/>
          <a:effectLst>
            <a:outerShdw blurRad="127000" dist="25400" dir="5400000" algn="bl" rotWithShape="0">
              <a:srgbClr val="1B3A6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3717036" y="2679192"/>
            <a:ext cx="841248" cy="841248"/>
          </a:xfrm>
          <a:prstGeom prst="ellipse">
            <a:avLst/>
          </a:prstGeom>
          <a:solidFill>
            <a:srgbClr val="D3141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 rot="5400000">
            <a:off x="4018788" y="2935224"/>
            <a:ext cx="310896" cy="329184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1164020" y="3831337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VİDEOSU (1 dk) — buraya gömülecek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683062" y="1486160"/>
            <a:ext cx="3930869" cy="350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Lingua-Tech, katılım bankalarının dağınık kampanya metinlerini aranabilir, karşılaştırılabilir ve kurum içinde çalışabilir bir veri diline çevirir.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4989261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3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1442</Words>
  <Application>Microsoft Office PowerPoint</Application>
  <PresentationFormat>Geniş ekran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Lingua-Tech — TEKNOFEST 2026 TYDA 2. Senaryo</dc:title>
  <dc:subject>PptxGenJS Presentation</dc:subject>
  <dc:creator>Lingua-Tech</dc:creator>
  <cp:lastModifiedBy>YİĞİTCAN BAYIK</cp:lastModifiedBy>
  <cp:revision>3</cp:revision>
  <dcterms:created xsi:type="dcterms:W3CDTF">2026-08-27T13:35:37Z</dcterms:created>
  <dcterms:modified xsi:type="dcterms:W3CDTF">2026-08-28T01:00:14Z</dcterms:modified>
</cp:coreProperties>
</file>